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E91E8C"/>
            </a:solidFill>
            <a:ln w="38100" cap="flat">
              <a:solidFill>
                <a:srgbClr val="E91E8C"/>
              </a:solidFill>
              <a:prstDash val="solid"/>
              <a:round/>
            </a:ln>
            <a:effectLst/>
          </c:spPr>
          <c:invertIfNegative val="0"/>
          <c:dLbls>
            <c:numFmt formatCode="0.0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3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91E8C"/>
              </a:solidFill>
              <a:ln w="9525" cap="flat">
                <a:solidFill>
                  <a:srgbClr val="E91E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0.56</c:v>
                </c:pt>
                <c:pt idx="1">
                  <c:v>0.5</c:v>
                </c:pt>
                <c:pt idx="2">
                  <c:v>0.68</c:v>
                </c:pt>
                <c:pt idx="3">
                  <c:v>0.49</c:v>
                </c:pt>
                <c:pt idx="4">
                  <c:v>0.72</c:v>
                </c:pt>
                <c:pt idx="5">
                  <c:v>0.69</c:v>
                </c:pt>
                <c:pt idx="6">
                  <c:v>0.68</c:v>
                </c:pt>
                <c:pt idx="7">
                  <c:v>0.68</c:v>
                </c:pt>
                <c:pt idx="8">
                  <c:v>1.02</c:v>
                </c:pt>
                <c:pt idx="9">
                  <c:v>1.07</c:v>
                </c:pt>
                <c:pt idx="10">
                  <c:v>1.46</c:v>
                </c:pt>
                <c:pt idx="11">
                  <c:v>1.18</c:v>
                </c:pt>
              </c:numCache>
            </c:numRef>
          </c:val>
          <c:smooth val="1"/>
        </c:ser>
        <c:dLbls>
          <c:numFmt formatCode="0.0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1B3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E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"/>
          <c:min val="0"/>
        </c:scaling>
        <c:delete val="0"/>
        <c:axPos val="l"/>
        <c:majorGridlines>
          <c:spPr>
            <a:ln w="12700" cap="flat">
              <a:solidFill>
                <a:srgbClr val="DDDDE6"/>
              </a:solidFill>
              <a:prstDash val="solid"/>
              <a:round/>
            </a:ln>
          </c:spPr>
        </c:majorGridlines>
        <c:numFmt formatCode="0.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A"/>
        </a:solidFill>
        <a:ln>
          <a:noFill/>
        </a:ln>
        <a:effectLst/>
      </c:spPr>
    </c:plotArea>
    <c:plotVisOnly val="1"/>
    <c:dispBlanksAs val="span"/>
  </c:chart>
  <c:spPr>
    <a:solidFill>
      <a:srgbClr val="F7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E91E8C"/>
            </a:solidFill>
            <a:effectLst/>
          </c:spPr>
          <c:invertIfNegative val="0"/>
          <c:dLbls>
            <c:numFmt formatCode="0.0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1E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A3D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D5CA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79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94C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AEC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7C7D9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Dotcom Postage</c:v>
                  </c:pt>
                  <c:pt idx="1">
                    <c:v>Regency Cakestand 3 Tier</c:v>
                  </c:pt>
                  <c:pt idx="2">
                    <c:v>White Hanging Heart T-Light</c:v>
                  </c:pt>
                  <c:pt idx="3">
                    <c:v>Party Bunting</c:v>
                  </c:pt>
                  <c:pt idx="4">
                    <c:v>Jumbo Bag Red Retrospot</c:v>
                  </c:pt>
                  <c:pt idx="5">
                    <c:v>Rabbit Night Light</c:v>
                  </c:pt>
                  <c:pt idx="6">
                    <c:v>Postage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0.21</c:v>
                </c:pt>
                <c:pt idx="1">
                  <c:v>0.16</c:v>
                </c:pt>
                <c:pt idx="2">
                  <c:v>0.1</c:v>
                </c:pt>
                <c:pt idx="3">
                  <c:v>0.1</c:v>
                </c:pt>
                <c:pt idx="4">
                  <c:v>0.09</c:v>
                </c:pt>
                <c:pt idx="5">
                  <c:v>0.07</c:v>
                </c:pt>
                <c:pt idx="6">
                  <c:v>0.07</c:v>
                </c:pt>
              </c:numCache>
            </c:numRef>
          </c:val>
        </c:ser>
        <c:dLbls>
          <c:numFmt formatCode="0.0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E6E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A"/>
        </a:solidFill>
        <a:ln>
          <a:noFill/>
        </a:ln>
        <a:effectLst/>
      </c:spPr>
    </c:plotArea>
    <c:plotVisOnly val="1"/>
    <c:dispBlanksAs val="span"/>
  </c:chart>
  <c:spPr>
    <a:solidFill>
      <a:srgbClr val="F7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D8D8E8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8D8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8D8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8D8E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8D8E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8D8E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8D8E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91E8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Switzerland</c:v>
                  </c:pt>
                  <c:pt idx="1">
                    <c:v>Australia</c:v>
                  </c:pt>
                  <c:pt idx="2">
                    <c:v>France</c:v>
                  </c:pt>
                  <c:pt idx="3">
                    <c:v>Germany</c:v>
                  </c:pt>
                  <c:pt idx="4">
                    <c:v>EIRE</c:v>
                  </c:pt>
                  <c:pt idx="5">
                    <c:v>Netherlands</c:v>
                  </c:pt>
                  <c:pt idx="6">
                    <c:v>United Kingdom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</c:v>
                </c:pt>
                <c:pt idx="1">
                  <c:v>0.1</c:v>
                </c:pt>
                <c:pt idx="2">
                  <c:v>0.2</c:v>
                </c:pt>
                <c:pt idx="3">
                  <c:v>0.2</c:v>
                </c:pt>
                <c:pt idx="4">
                  <c:v>0.3</c:v>
                </c:pt>
                <c:pt idx="5">
                  <c:v>0.3</c:v>
                </c:pt>
                <c:pt idx="6">
                  <c:v>8.2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0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A"/>
        </a:solidFill>
        <a:ln>
          <a:noFill/>
        </a:ln>
        <a:effectLst/>
      </c:spPr>
    </c:plotArea>
    <c:plotVisOnly val="1"/>
    <c:dispBlanksAs val="span"/>
  </c:chart>
  <c:spPr>
    <a:solidFill>
      <a:srgbClr val="F7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2A2A55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4" name="Shape 2"/>
          <p:cNvSpPr/>
          <p:nvPr/>
        </p:nvSpPr>
        <p:spPr>
          <a:xfrm>
            <a:off x="10927080" y="4343400"/>
            <a:ext cx="2651760" cy="2651760"/>
          </a:xfrm>
          <a:prstGeom prst="ellipse">
            <a:avLst/>
          </a:prstGeom>
          <a:solidFill>
            <a:srgbClr val="1B1B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PRESENTATION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Retail Sales Dashboard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overview, market concentration, and recommendations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stakeholder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do, and how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Online Retail dataset to understand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performance, customer behaviour, and market concentration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then turn those findings into a client-ready dashboard with clear recommendations.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4444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7706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C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Organize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sales data cleaned and transformed in Power Query: duplicates removed, nulls handled, data types corrected.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38862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34840" y="25146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4444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09160" y="27706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C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9776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trends, top-selling products, and high-value countries analyzed for patterns and outliers.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38862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321040" y="25146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4444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595360" y="27706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C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9776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dashboard plus concrete, business-advisory recommendations — not just charts.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Dashboard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numbers that summarize the year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66544" cy="210312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444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851660"/>
            <a:ext cx="502920" cy="502920"/>
          </a:xfrm>
          <a:prstGeom prst="ellipse">
            <a:avLst/>
          </a:prstGeom>
          <a:solidFill>
            <a:srgbClr val="F7CF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4380" y="1851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14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4K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0632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98064" y="1600200"/>
            <a:ext cx="2066544" cy="210312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444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03804" y="1851660"/>
            <a:ext cx="502920" cy="502920"/>
          </a:xfrm>
          <a:prstGeom prst="ellipse">
            <a:avLst/>
          </a:prstGeom>
          <a:solidFill>
            <a:srgbClr val="F7CFE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03804" y="1851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2514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5M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30632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47488" y="1600200"/>
            <a:ext cx="2066544" cy="210312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444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3228" y="1851660"/>
            <a:ext cx="502920" cy="502920"/>
          </a:xfrm>
          <a:prstGeom prst="ellipse">
            <a:avLst/>
          </a:prstGeom>
          <a:solidFill>
            <a:srgbClr val="F7CFE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53228" y="1851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48656" y="2514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26K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248656" y="30632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96912" y="1600200"/>
            <a:ext cx="2066544" cy="2103120"/>
          </a:xfrm>
          <a:prstGeom prst="roundRect">
            <a:avLst>
              <a:gd name="adj" fmla="val 5310"/>
            </a:avLst>
          </a:prstGeom>
          <a:solidFill>
            <a:srgbClr val="1B1B3A"/>
          </a:solidFill>
          <a:ln/>
          <a:effectLst>
            <a:outerShdw sx="100000" sy="100000" kx="0" ky="0" algn="bl" rotWithShape="0" blurRad="101600" dist="38100" dir="5400000">
              <a:srgbClr val="44444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02652" y="1851660"/>
            <a:ext cx="502920" cy="50292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02652" y="1851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2514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9.73M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30632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46336" y="1600200"/>
            <a:ext cx="2066544" cy="210312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9050">
            <a:solidFill>
              <a:srgbClr val="1E8E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52076" y="1851660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52076" y="1851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747504" y="2514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12.02%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9747504" y="30632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4444">
                <a:alpha val="1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" y="4315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numbers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47091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12.02% year-over-year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while average order value sits near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$374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roughly 6–7 orders per customer — a healthy sign of both growth and repeat purchasing.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Dashboard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Trends Over Time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sales, January – December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78638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417320"/>
            <a:ext cx="2926080" cy="4709160"/>
          </a:xfrm>
          <a:prstGeom prst="roundRect">
            <a:avLst>
              <a:gd name="adj" fmla="val 3125"/>
            </a:avLst>
          </a:prstGeom>
          <a:solidFill>
            <a:srgbClr val="1B1B3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0068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1847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 12.02%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revenue is up versus the comparable prior period.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006840" y="3200400"/>
            <a:ext cx="2377440" cy="0"/>
          </a:xfrm>
          <a:prstGeom prst="line">
            <a:avLst/>
          </a:prstGeom>
          <a:noFill/>
          <a:ln w="12700">
            <a:solidFill>
              <a:srgbClr val="3D3D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0684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36393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— $1.46M, the strongest month of the year.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006840" y="4434840"/>
            <a:ext cx="2377440" cy="0"/>
          </a:xfrm>
          <a:prstGeom prst="line">
            <a:avLst/>
          </a:prstGeom>
          <a:noFill/>
          <a:ln w="12700">
            <a:solidFill>
              <a:srgbClr val="3D3D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06840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006840" y="48737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nearly doubles from September onward, driving most of the year's growth in Q4.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Dashboard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Top-Selling Products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sales value ($M)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Dashboard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Countries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concentration by country ($M) — also viewable as a map in the dashboard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840480" cy="4709160"/>
          </a:xfrm>
          <a:prstGeom prst="roundRect">
            <a:avLst>
              <a:gd name="adj" fmla="val 2381"/>
            </a:avLst>
          </a:prstGeom>
          <a:solidFill>
            <a:srgbClr val="1B1B3A"/>
          </a:solidFill>
          <a:ln/>
        </p:spPr>
      </p:sp>
      <p:sp>
        <p:nvSpPr>
          <p:cNvPr id="6" name="Shape 3"/>
          <p:cNvSpPr/>
          <p:nvPr/>
        </p:nvSpPr>
        <p:spPr>
          <a:xfrm>
            <a:off x="8138160" y="1737360"/>
            <a:ext cx="548640" cy="54864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1381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 Dominance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42316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Kingdom generates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8.2M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sales — about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total revenue, dwarfing every other market combined.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38160" y="3794760"/>
            <a:ext cx="3246120" cy="0"/>
          </a:xfrm>
          <a:prstGeom prst="line">
            <a:avLst/>
          </a:prstGeom>
          <a:noFill/>
          <a:ln w="12700">
            <a:solidFill>
              <a:srgbClr val="3D3D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3816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View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429768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also includes a filled map visual, so this concentration is visible at a glance without reading a table.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Dashboard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 telling 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2A2A5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growing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5146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up 12.02% year-over-year, the first quantified growth signal available in the dashboard.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2A2A55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828800"/>
            <a:ext cx="548640" cy="54864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⚆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288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repeat purchasing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5146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 customers placed ~26,000 orders — about 6–7 orders per customer at an average $374 order value.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2A2A55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976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UK-concentrated revenue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98348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alone drives ~84% of total sales — every other market individually contributes under 3%.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06908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2A2A55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4297680"/>
            <a:ext cx="548640" cy="54864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2976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over premium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98348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Best-sellers are low-cost, high-volume items (postage, décor) — growth comes from frequency, not big-ticket sales.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Dashboard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action — part 1 of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444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7260" y="1920240"/>
            <a:ext cx="594360" cy="59436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726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70992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the Top Products List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3055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out shipping/admin entries ("Dotcom Postage", "Postage") so the ranking reflects real, sellable products only.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4444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7260" y="3593592"/>
            <a:ext cx="594360" cy="59436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7260" y="3593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3832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UK Dependence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803904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targeted campaigns in Netherlands, EIRE, Germany, and France — grow their combined share from under 4% to 10–12% over 2–3 quarters.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55464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4444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7260" y="5266944"/>
            <a:ext cx="594360" cy="59436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7260" y="52669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505663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the Peak Season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477256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early-bird promotions in July–August to pull forward seasonal demand and smooth revenue across the year.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Dashboard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action — part 2 of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444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7260" y="1920240"/>
            <a:ext cx="594360" cy="59436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726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70992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Profit Margin Metric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3055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product-level cost data so items can be ranked by actual margin, not just sales volume.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4444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7260" y="3593592"/>
            <a:ext cx="594360" cy="59436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7260" y="3593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3832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Loyalty Program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803904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already order 6–7 times a year — a rewards program can raise frequency and lifetime value at low acquisition cost.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55464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4444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7260" y="5266944"/>
            <a:ext cx="594360" cy="59436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7260" y="52669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505663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Cross-Sell Top Products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477256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best-sellers with complementary higher-margin items at checkout to lift average order value.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Dashboard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2A2A5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C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cleaned Online Retail data  •  Power BI Dashboard Analysis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2026-09-18T10:07:36Z</dcterms:created>
  <dcterms:modified xsi:type="dcterms:W3CDTF">2026-09-18T10:07:36Z</dcterms:modified>
</cp:coreProperties>
</file>